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59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457200" cy="457200"/>
          </a:xfrm>
          <a:prstGeom prst="ellipse">
            <a:avLst/>
          </a:prstGeom>
          <a:solidFill>
            <a:srgbClr val="E259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ANALYTICS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Customer Churn Analysis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Analysis of Customer Behavior Across Region, Age, Income, and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Segments to Uncover Churn Drivers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1005840" cy="36576"/>
          </a:xfrm>
          <a:prstGeom prst="rect">
            <a:avLst/>
          </a:prstGeom>
          <a:solidFill>
            <a:srgbClr val="E259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Shakeer Shaik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• NumPy • Matplotlib • Seaborn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8105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23774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Standardization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2962656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9443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351129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Profile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40782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&amp; Treatment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0432" y="46451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09360" y="1828800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39712" y="18105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Univariate: Salary Segmentation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09360" y="239572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39712" y="23774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Behavior: Tenure &amp; Products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309360" y="2962656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9712" y="29443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Behavior: Satisfaction Score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309360" y="3529584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39712" y="351129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Tested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309360" y="4096512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39712" y="40782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309360" y="4663440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9712" y="46451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369210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1031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an end-to-end Bank Customer Churn Analysis using Python — analyzing customer behavior across region, state, age groups, income segments, and employment types — to identify churn patterns and generate actionable business insight.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499616" y="4114800"/>
            <a:ext cx="685800" cy="6858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28" y="421081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49834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85800" y="53675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&amp; outliers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82696" y="37947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33672" y="4114800"/>
            <a:ext cx="685800" cy="6858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21081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82696" y="49834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3419856" y="53675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meaningful new features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16752" y="37947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67728" y="4114800"/>
            <a:ext cx="685800" cy="6858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4210812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16752" y="49834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153912" y="53675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Uni-, bi- &amp; multivariate EDA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750808" y="37947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701784" y="4114800"/>
            <a:ext cx="685800" cy="6858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796" y="4210812"/>
            <a:ext cx="493776" cy="49377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750808" y="49834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8887968" y="53675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patterns into action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 &amp; Standardization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and processed the dataset with Pandas: inspected structure with df.info(), then standardized every column name — lower-cased and spaces replaced with underscores — for consistent downstream referencing.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3199"/>
            <a:ext cx="6053328" cy="3514165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3087929"/>
            <a:ext cx="362102" cy="3621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3035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Column Set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118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8680" y="4014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11880" y="4014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credit_score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68680" y="4325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611880" y="4325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8680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hascrcard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611880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hasloan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8680" y="4946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hasfd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611880" y="4946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num_of_products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68680" y="5257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isactivemember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611880" y="5257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exited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5568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complain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611880" y="5568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count_of_complaints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68680" y="5879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satisfaction_score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611880" y="5879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point_earned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812280" y="2743200"/>
            <a:ext cx="4828032" cy="3514164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132320" y="30175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729" y="3087929"/>
            <a:ext cx="362102" cy="36210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772400" y="3035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Rule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7132320" y="370332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1B1F2E"/>
          </a:solidFill>
          <a:ln/>
        </p:spPr>
      </p:sp>
      <p:sp>
        <p:nvSpPr>
          <p:cNvPr id="33" name="Text 29"/>
          <p:cNvSpPr/>
          <p:nvPr/>
        </p:nvSpPr>
        <p:spPr>
          <a:xfrm>
            <a:off x="7223760" y="3703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df.columns.str.lower().str.replace(" ", "_")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132320" y="44348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headers converted to lowercase.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replaced with underscores for clean referencing.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core columns carried through the full analysis.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40080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11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with median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5420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with 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0723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satisfaction_score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0723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with median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6027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6027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missing values dropped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1330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card_type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4133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with mode (most frequent)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23760" y="1874520"/>
            <a:ext cx="4416552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43800" y="214884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209" y="2219249"/>
            <a:ext cx="362102" cy="36210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54380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 — Cleaned Categories</a:t>
            </a:r>
            <a:endParaRPr lang="en-US" sz="1300" dirty="0"/>
          </a:p>
        </p:txBody>
      </p:sp>
      <p:pic>
        <p:nvPicPr>
          <p:cNvPr id="22" name="Image 1" descr="/home/claude/build2/images/upper_case_all_card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246120"/>
            <a:ext cx="3840480" cy="2143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43800" y="3840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card_type standardized to UPPERCASE + trimmed → four clean categories: Silver, Gold, Platinum, Not Applicable.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Columns Profile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892808"/>
            <a:ext cx="2950464" cy="4352544"/>
          </a:xfrm>
          <a:prstGeom prst="roundRect">
            <a:avLst>
              <a:gd name="adj" fmla="val 1550"/>
            </a:avLst>
          </a:prstGeom>
          <a:solidFill>
            <a:srgbClr val="0D1420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8" name="Image 0" descr="/home/claude/build2/images/numeric_columns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280416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309360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count per numeric column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80560" y="1965960"/>
            <a:ext cx="72237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21945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54880" y="265176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 is (almost) fully unique (14,993) — confirming it's a record identifier, not a modeling feature.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flags — hascrcard, hasloan, hasfd, isactivemember, exited, complain — each have exactly 2 unique values, confirming they are binary.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has only 10 distinct values and num_of_products only 4, both well-suited to grouping and cross-tabs.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shows just 194 unique values across ~15K rows — many customers share identical salary figures, worth flagging for downstream modeling.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(12,660 unique) and credit_score (435 unique) behave as near-continuous variables.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— IQR METHOD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&amp; Treatment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977576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57400"/>
            <a:ext cx="2703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pic>
        <p:nvPicPr>
          <p:cNvPr id="9" name="Image 0" descr="/home/claude/build2/images/salary_distribution_with_out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50008"/>
            <a:ext cx="2703256" cy="2148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43400" y="1960851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29300" y="2194560"/>
            <a:ext cx="548640" cy="5486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10" y="22713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880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Bounds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17720" y="3337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17720" y="35935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-68,500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17720" y="3987143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617720" y="421673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287,500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8138160" y="1965960"/>
            <a:ext cx="335106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275320" y="2057400"/>
            <a:ext cx="3076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(capped)</a:t>
            </a:r>
            <a:endParaRPr lang="en-US" sz="1200" dirty="0"/>
          </a:p>
        </p:txBody>
      </p:sp>
      <p:pic>
        <p:nvPicPr>
          <p:cNvPr id="20" name="Image 2" descr="/home/claude/build2/images/salary_distribution_without_outl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468880"/>
            <a:ext cx="3076748" cy="197693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48640" y="5074920"/>
            <a:ext cx="10881360" cy="92354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22960" y="519379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values above the upper bound were capped (winsorized) using np.where, rather than dropped — preserving sample size while removing distortion from extreme high-income outliers.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IQR approach was applied to balance, capping its upper outliers as well.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Analysis: Salary Segmentation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03504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Category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6035040" cy="56692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77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377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₹50,000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₹50,001 – ₹100,000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44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4,070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11296"/>
            <a:ext cx="6035040" cy="56692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112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5112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₹100,001 – ₹150,000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112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4,154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0782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0782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₹150,001 – ₹200,000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0782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4,180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645152"/>
            <a:ext cx="6035040" cy="56692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6451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2 Lakhs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46451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₹200,000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6451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0" y="1874520"/>
            <a:ext cx="4782312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86600" y="196596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Distribution</a:t>
            </a:r>
            <a:endParaRPr lang="en-US" sz="1300" dirty="0"/>
          </a:p>
        </p:txBody>
      </p:sp>
      <p:pic>
        <p:nvPicPr>
          <p:cNvPr id="31" name="Image 0" descr="/home/claude/build2/images/salary_category_value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31720"/>
            <a:ext cx="3368040" cy="237744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548640" y="5399532"/>
            <a:ext cx="10881360" cy="68122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22960" y="52120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salary outliers were capped at ₹287,500, almost no customers remained above the “Above 2 Lakhs” threshold (just 6 of ~15,000) — a sign that these salary bands should be redefined post-cleaning to stay meaningful.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VARIABLES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585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167128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1B1F2E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278892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(balance + hasloan×salary×0.3) / salary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7240" y="33375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stability indicator per customer.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33672" y="196596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62272" y="2194560"/>
            <a:ext cx="457200" cy="4572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585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56632" y="2167128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Score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462272" y="278892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1B1F2E"/>
          </a:solidFill>
          <a:ln/>
        </p:spPr>
      </p:sp>
      <p:sp>
        <p:nvSpPr>
          <p:cNvPr id="19" name="Text 15"/>
          <p:cNvSpPr/>
          <p:nvPr/>
        </p:nvSpPr>
        <p:spPr>
          <a:xfrm>
            <a:off x="4526280" y="278892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(tenure × satisfaction_score) / (1 + complaints)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462272" y="33375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long tenure &amp; satisfaction, penalizes complaints.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918704" y="196596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47304" y="2194560"/>
            <a:ext cx="457200" cy="4572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225856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741664" y="2167128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Complainer Flag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147304" y="278892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1B1F2E"/>
          </a:solidFill>
          <a:ln/>
        </p:spPr>
      </p:sp>
      <p:sp>
        <p:nvSpPr>
          <p:cNvPr id="26" name="Text 21"/>
          <p:cNvSpPr/>
          <p:nvPr/>
        </p:nvSpPr>
        <p:spPr>
          <a:xfrm>
            <a:off x="8211312" y="278892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complaints &gt; state average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147304" y="33375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customers above their state's complaint norm.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416052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45312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71600" y="4361688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Group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777240" y="498348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1B1F2E"/>
          </a:solidFill>
          <a:ln/>
        </p:spPr>
      </p:sp>
      <p:sp>
        <p:nvSpPr>
          <p:cNvPr id="33" name="Text 27"/>
          <p:cNvSpPr/>
          <p:nvPr/>
        </p:nvSpPr>
        <p:spPr>
          <a:xfrm>
            <a:off x="841248" y="4983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5-year bins, 0–40 years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77240" y="55321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customers for cohort-style comparison.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233672" y="416052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462272" y="4389120"/>
            <a:ext cx="457200" cy="4572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453128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056632" y="4361688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Range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4462272" y="498348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1B1F2E"/>
          </a:solidFill>
          <a:ln/>
        </p:spPr>
      </p:sp>
      <p:sp>
        <p:nvSpPr>
          <p:cNvPr id="40" name="Text 33"/>
          <p:cNvSpPr/>
          <p:nvPr/>
        </p:nvSpPr>
        <p:spPr>
          <a:xfrm>
            <a:off x="4526280" y="4983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bins, 200–1200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4462272" y="55321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customers by credit tier.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7918704" y="416052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8147304" y="4389120"/>
            <a:ext cx="457200" cy="45720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4453128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741664" y="4361688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Category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8147304" y="498348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1B1F2E"/>
          </a:solidFill>
          <a:ln/>
        </p:spPr>
      </p:sp>
      <p:sp>
        <p:nvSpPr>
          <p:cNvPr id="47" name="Text 39"/>
          <p:cNvSpPr/>
          <p:nvPr/>
        </p:nvSpPr>
        <p:spPr>
          <a:xfrm>
            <a:off x="8211312" y="4983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tiers: Low → Above 2 Lakhs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8147304" y="55321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Income-based segmentation for EDA.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408615" y="3840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408615" y="3840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EDA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vs Product Usage by Churn Status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93776" y="1682496"/>
            <a:ext cx="7333488" cy="4421366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11" name="Image 1" descr="/home/claude/build2/images/tenure_group_vs_avg_num_products_by_churn_vis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37360"/>
            <a:ext cx="7223760" cy="431163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2440" y="1737360"/>
            <a:ext cx="3566160" cy="4366502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348472" y="19202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48472" y="2331720"/>
            <a:ext cx="305409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usage among retained customers stays fairly flat (~1.5) across most tenure bands.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20–25 year tenure band shows a striking divergence: retained customers average 3.0 products vs just 0.5 for churned ones.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15–20 year band, churned customers actually use more products on average (2.0) than retained ones (1.5).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35–40 year band has churned-only customers averaging 3.0 products — too small a group to generalize from.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408615" y="3840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408615" y="3840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EDA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Score Distribution by Churn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93776" y="1682496"/>
            <a:ext cx="5938720" cy="4681728"/>
          </a:xfrm>
          <a:prstGeom prst="roundRect">
            <a:avLst>
              <a:gd name="adj" fmla="val 977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11" name="Image 1" descr="/home/claude/build2/images/satisfaction_score_by_churn_vis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37360"/>
            <a:ext cx="5828992" cy="4572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2440" y="1737360"/>
            <a:ext cx="3566160" cy="4572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348472" y="19202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48472" y="2331720"/>
            <a:ext cx="305409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0–2 are overwhelmingly churned — almost no customer in this band stayed.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score 3 onward, the pattern flips sharply: the vast majority of customers stayed.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4–10 show a consistently high volume of retained customers with only a modest, steady share churning.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is one of the clearest single-variable churn signals in the dataset.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HYPOTHESIS-DRIVEN EDA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Tested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212780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99339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&amp; loyalty points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06240" y="1993392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low satisfaction and low loyalty points are more likely to churn — tested via scatter plot of satisfaction_score vs point_earned, colored by churn.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9" y="3023921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88950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gap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06240" y="2889504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have lower satisfaction scores than those who stay — confirmed by the stacked histogram: scores 0–2 are almost entirely churned.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849624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9" y="3920033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78561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&amp; churn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206240" y="378561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customers who complained, a higher proportion end up churning — examined via a pie chart of churn share within complainants.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745736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9" y="4816145"/>
            <a:ext cx="362102" cy="3621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6817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balance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206240" y="468172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 salary and high balance are less likely to churn — explored via a sampled scatter plot of salary vs balance, colored by churn.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641848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9" y="5712257"/>
            <a:ext cx="362102" cy="3621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34440" y="5577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Deposit holding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206240" y="55778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differs between FD holders and non-holders — measured via churn proportion pie chart among hasfd = 1 customers.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880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Cleaning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48640" y="2198146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965960"/>
            <a:ext cx="10607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were minimal and handled with targeted rules: median for salary &amp; satisfaction, zero for balance, dropped rows for gender, mode for card_type.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0653" y="3051048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713482"/>
            <a:ext cx="1060704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card_type required case + whitespace cleanup before it resolved into four clean categories: Silver, Gold, Platinum, Not Applicable.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79784" y="3678937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306318"/>
            <a:ext cx="10607040" cy="848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and balance both carried extreme high-end outliers; IQR-based capping (winsorizing) preserved all 14,993 records while removing distortion.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Behavior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85216" y="2261033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965960"/>
            <a:ext cx="1060704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 is a pure identifier; six flags (hascrcard, hasloan, hasfd, isactivemember, exited, complain) are binary — ideal for churn segmentation.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85216" y="2885694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2631184"/>
            <a:ext cx="10607040" cy="635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showing only 194 unique values across ~15K rows suggests repeated exact figures, worth a closer look before using it in a predictive model.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665" y="3510355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285697"/>
            <a:ext cx="10607040" cy="56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capping, the Salary Category thresholds (Low → Above 2 Lakhs) leave only 6 customers above ₹200,000 — the top band should be redefined.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Behavior Patterns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85216" y="2057095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748028"/>
            <a:ext cx="1060704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is the strongest single-variable churn signal observed: scores 0–2 are almost entirely churned, while 4+ skews heavily retained.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88264" y="2705781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503170"/>
            <a:ext cx="1060704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usage by tenure is uneven — most bands hover near 1.5 products regardless of churn, but the 20–25 year band shows a sharp divergence (3.0 retained vs 0.5 churned).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4857" y="3490722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303898"/>
            <a:ext cx="1060704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hypotheses — spanning satisfaction, complaints, salary/balance, and FD holding — were tested with dedicated scatter, histogram, and pie-chart views to triangulate churn drivers.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 Into Action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516636"/>
          </a:xfrm>
          <a:prstGeom prst="roundRect">
            <a:avLst>
              <a:gd name="adj" fmla="val 12389"/>
            </a:avLst>
          </a:prstGeom>
          <a:solidFill>
            <a:srgbClr val="252B40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748790"/>
            <a:ext cx="310896" cy="31089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48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100126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outreach for customers scoring 0–2 on satisfaction — the strongest churn signal observed.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72284"/>
            <a:ext cx="10881360" cy="516636"/>
          </a:xfrm>
          <a:prstGeom prst="roundRect">
            <a:avLst>
              <a:gd name="adj" fmla="val 12389"/>
            </a:avLst>
          </a:prstGeom>
          <a:solidFill>
            <a:srgbClr val="252B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375154"/>
            <a:ext cx="310896" cy="31089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751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272284"/>
            <a:ext cx="100126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15–25 year tenure bands further — product usage patterns diverge sharply from churn status here.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98648"/>
            <a:ext cx="10881360" cy="516636"/>
          </a:xfrm>
          <a:prstGeom prst="roundRect">
            <a:avLst>
              <a:gd name="adj" fmla="val 12389"/>
            </a:avLst>
          </a:prstGeom>
          <a:solidFill>
            <a:srgbClr val="252B4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001518"/>
            <a:ext cx="310896" cy="31089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015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898648"/>
            <a:ext cx="100126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Salary Category thresholds after outlier capping so segments stay meaningful ("Above 2 Lakhs" is now nearly empty).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525012"/>
            <a:ext cx="10881360" cy="516636"/>
          </a:xfrm>
          <a:prstGeom prst="roundRect">
            <a:avLst>
              <a:gd name="adj" fmla="val 12389"/>
            </a:avLst>
          </a:prstGeom>
          <a:solidFill>
            <a:srgbClr val="252B4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627882"/>
            <a:ext cx="310896" cy="31089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278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3525012"/>
            <a:ext cx="100126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194 unique salary values across ~15K customers for duplicated or synthetic entries before using salary in a model.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151376"/>
            <a:ext cx="10881360" cy="516636"/>
          </a:xfrm>
          <a:prstGeom prst="roundRect">
            <a:avLst>
              <a:gd name="adj" fmla="val 12389"/>
            </a:avLst>
          </a:prstGeom>
          <a:solidFill>
            <a:srgbClr val="252B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254246"/>
            <a:ext cx="310896" cy="31089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542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4151376"/>
            <a:ext cx="100126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categorical fields (card_type, gender, state) on ingestion to prevent recurring case/whitespace issues.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777740"/>
            <a:ext cx="10881360" cy="516636"/>
          </a:xfrm>
          <a:prstGeom prst="roundRect">
            <a:avLst>
              <a:gd name="adj" fmla="val 12389"/>
            </a:avLst>
          </a:prstGeom>
          <a:solidFill>
            <a:srgbClr val="252B40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4880610"/>
            <a:ext cx="310896" cy="31089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80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4777740"/>
            <a:ext cx="100126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complaint, FD-holding, and salary/balance assumption tests into a combined churn propensity score.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404104"/>
            <a:ext cx="10881360" cy="516636"/>
          </a:xfrm>
          <a:prstGeom prst="roundRect">
            <a:avLst>
              <a:gd name="adj" fmla="val 12389"/>
            </a:avLst>
          </a:prstGeom>
          <a:solidFill>
            <a:srgbClr val="252B40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5506974"/>
            <a:ext cx="310896" cy="31089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5069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25880" y="5404104"/>
            <a:ext cx="100126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median/mode imputation and IQR-capping pipeline so future data refreshes stay consistent.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Shape 3"/>
          <p:cNvSpPr/>
          <p:nvPr/>
        </p:nvSpPr>
        <p:spPr>
          <a:xfrm>
            <a:off x="5684368" y="1463040"/>
            <a:ext cx="822960" cy="822960"/>
          </a:xfrm>
          <a:prstGeom prst="ellipse">
            <a:avLst/>
          </a:prstGeom>
          <a:solidFill>
            <a:srgbClr val="252B4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582" y="157825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188720" y="33375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spreadsheet to churn insight — a complete Python data-pipeline showcasing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cleansing, feature engineering, and evidence-based business recommendations.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1566</Words>
  <Application>Microsoft Office PowerPoint</Application>
  <PresentationFormat>Widescreen</PresentationFormat>
  <Paragraphs>264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Analysis</dc:title>
  <dc:subject>PptxGenJS Presentation</dc:subject>
  <dc:creator>Data Analytics Team</dc:creator>
  <cp:lastModifiedBy>Shakeer Shaik</cp:lastModifiedBy>
  <cp:revision>8</cp:revision>
  <dcterms:created xsi:type="dcterms:W3CDTF">2026-07-06T11:39:29Z</dcterms:created>
  <dcterms:modified xsi:type="dcterms:W3CDTF">2026-07-06T12:09:46Z</dcterms:modified>
</cp:coreProperties>
</file>